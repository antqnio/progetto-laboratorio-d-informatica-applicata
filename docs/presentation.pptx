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3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BC81B-9B1E-5EDB-D27A-FDBAD55CC279}" v="123" dt="2025-07-14T09:45:30.990"/>
    <p1510:client id="{E470466F-2EBA-3063-23AE-8A7DD1CA4EB4}" v="44" dt="2025-07-14T10:07:20.964"/>
    <p1510:client id="{ECC5346D-50C3-7CC9-1115-DB1B76147B8C}" v="513" dt="2025-07-14T10:08:11.2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79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61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877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37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7/14/2025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128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7/14/2025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658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7/14/2025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139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1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7/14/2025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78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10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525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7/14/2025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632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76" r:id="rId6"/>
    <p:sldLayoutId id="2147483672" r:id="rId7"/>
    <p:sldLayoutId id="2147483673" r:id="rId8"/>
    <p:sldLayoutId id="2147483674" r:id="rId9"/>
    <p:sldLayoutId id="2147483675" r:id="rId10"/>
    <p:sldLayoutId id="214748367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8">
            <a:extLst>
              <a:ext uri="{FF2B5EF4-FFF2-40B4-BE49-F238E27FC236}">
                <a16:creationId xmlns:a16="http://schemas.microsoft.com/office/drawing/2014/main" id="{6E448DB1-4196-18A6-15DA-C72635C1B1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pic>
        <p:nvPicPr>
          <p:cNvPr id="18" name="Picture 3">
            <a:extLst>
              <a:ext uri="{FF2B5EF4-FFF2-40B4-BE49-F238E27FC236}">
                <a16:creationId xmlns:a16="http://schemas.microsoft.com/office/drawing/2014/main" id="{D85DF999-C76B-7365-70F9-44CEB8069E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092" t="22614" r="-7" b="92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9" name="Rectangle 10">
            <a:extLst>
              <a:ext uri="{FF2B5EF4-FFF2-40B4-BE49-F238E27FC236}">
                <a16:creationId xmlns:a16="http://schemas.microsoft.com/office/drawing/2014/main" id="{DF15DF8A-891A-1965-E372-1BA1F3B945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507179" y="173179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3000"/>
                </a:schemeClr>
              </a:gs>
              <a:gs pos="26000">
                <a:schemeClr val="bg1">
                  <a:alpha val="20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7473219" y="898373"/>
            <a:ext cx="4470544" cy="3474720"/>
          </a:xfrm>
        </p:spPr>
        <p:txBody>
          <a:bodyPr anchor="b">
            <a:normAutofit/>
          </a:bodyPr>
          <a:lstStyle/>
          <a:p>
            <a:pPr algn="l"/>
            <a:r>
              <a:rPr lang="de-DE" sz="5800"/>
              <a:t>Gesture Recognizer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7482646" y="4495013"/>
            <a:ext cx="4116410" cy="138684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de-DE" sz="2200"/>
              <a:t>Antonio Querci and Alessando Trusendi</a:t>
            </a:r>
          </a:p>
        </p:txBody>
      </p:sp>
    </p:spTree>
    <p:extLst>
      <p:ext uri="{BB962C8B-B14F-4D97-AF65-F5344CB8AC3E}">
        <p14:creationId xmlns:p14="http://schemas.microsoft.com/office/powerpoint/2010/main" val="39625839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3A364A9-E0DD-31E7-9120-B9DB6B121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Application architetture</a:t>
            </a:r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C24BC18B-49E7-89A5-F8AA-E075744130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4980" y="1483117"/>
            <a:ext cx="6391275" cy="4543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9613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2AE228-E947-A40C-1D26-E67294D39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Client – Server Communication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671E485D-E943-EDDC-741A-6DAF733AE2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775" y="2264317"/>
            <a:ext cx="10653713" cy="3496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63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161D4C0-DBD9-3412-4F93-9EDB4428F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Graphical</a:t>
            </a:r>
            <a:r>
              <a:rPr lang="it-IT"/>
              <a:t> Interface</a:t>
            </a:r>
          </a:p>
        </p:txBody>
      </p:sp>
      <p:pic>
        <p:nvPicPr>
          <p:cNvPr id="4" name="Segnaposto contenuto 3" descr="Immagine che contiene testo, schermata, Carattere, numero&#10;&#10;Il contenuto generato dall&amp;#39;IA potrebbe non essere corretto.">
            <a:extLst>
              <a:ext uri="{FF2B5EF4-FFF2-40B4-BE49-F238E27FC236}">
                <a16:creationId xmlns:a16="http://schemas.microsoft.com/office/drawing/2014/main" id="{71FF31D9-A427-04C8-FA2E-CD1ED4A408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9409" y="1193872"/>
            <a:ext cx="8510788" cy="5089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34730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EDF996-DC0C-40CB-2569-CF608B04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Custom DNN Model</a:t>
            </a:r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1DDAF860-5CE2-6B27-D028-3336276DA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01405" y="1196738"/>
            <a:ext cx="4880881" cy="4880881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F48DC19-50CC-7DC6-0594-27FFDA992533}"/>
              </a:ext>
            </a:extLst>
          </p:cNvPr>
          <p:cNvSpPr txBox="1"/>
          <p:nvPr/>
        </p:nvSpPr>
        <p:spPr>
          <a:xfrm>
            <a:off x="306780" y="2058389"/>
            <a:ext cx="6531426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/>
              <a:t>Input size: 21 x 3 x 2</a:t>
            </a:r>
          </a:p>
          <a:p>
            <a:r>
              <a:rPr lang="it-IT"/>
              <a:t>Two hands </a:t>
            </a:r>
            <a:r>
              <a:rPr lang="it-IT">
                <a:ea typeface="+mn-lt"/>
                <a:cs typeface="+mn-lt"/>
              </a:rPr>
              <a:t>→ 21 Landmarks x 3 </a:t>
            </a:r>
            <a:r>
              <a:rPr lang="it-IT" err="1">
                <a:ea typeface="+mn-lt"/>
                <a:cs typeface="+mn-lt"/>
              </a:rPr>
              <a:t>coords</a:t>
            </a:r>
            <a:r>
              <a:rPr lang="it-IT">
                <a:ea typeface="+mn-lt"/>
                <a:cs typeface="+mn-lt"/>
              </a:rPr>
              <a:t> x 2 = 126 inputs</a:t>
            </a:r>
          </a:p>
          <a:p>
            <a:endParaRPr lang="it-IT">
              <a:ea typeface="+mn-lt"/>
              <a:cs typeface="+mn-lt"/>
            </a:endParaRPr>
          </a:p>
          <a:p>
            <a:r>
              <a:rPr lang="it-IT" err="1">
                <a:ea typeface="+mn-lt"/>
                <a:cs typeface="+mn-lt"/>
              </a:rPr>
              <a:t>Hidden</a:t>
            </a:r>
            <a:r>
              <a:rPr lang="it-IT">
                <a:ea typeface="+mn-lt"/>
                <a:cs typeface="+mn-lt"/>
              </a:rPr>
              <a:t> </a:t>
            </a:r>
            <a:r>
              <a:rPr lang="it-IT" err="1">
                <a:ea typeface="+mn-lt"/>
                <a:cs typeface="+mn-lt"/>
              </a:rPr>
              <a:t>layer</a:t>
            </a:r>
            <a:r>
              <a:rPr lang="it-IT">
                <a:ea typeface="+mn-lt"/>
                <a:cs typeface="+mn-lt"/>
              </a:rPr>
              <a:t> size: 128</a:t>
            </a:r>
          </a:p>
          <a:p>
            <a:endParaRPr lang="it-IT">
              <a:ea typeface="+mn-lt"/>
              <a:cs typeface="+mn-lt"/>
            </a:endParaRPr>
          </a:p>
          <a:p>
            <a:r>
              <a:rPr lang="it-IT" err="1">
                <a:ea typeface="+mn-lt"/>
                <a:cs typeface="+mn-lt"/>
              </a:rPr>
              <a:t>Number</a:t>
            </a:r>
            <a:r>
              <a:rPr lang="it-IT">
                <a:ea typeface="+mn-lt"/>
                <a:cs typeface="+mn-lt"/>
              </a:rPr>
              <a:t> of classes = 19</a:t>
            </a:r>
          </a:p>
          <a:p>
            <a:r>
              <a:rPr lang="it-IT">
                <a:solidFill>
                  <a:srgbClr val="000000"/>
                </a:solidFill>
                <a:latin typeface="Neue Haas Grotesk Text Pro"/>
                <a:ea typeface="+mn-lt"/>
                <a:cs typeface="+mn-lt"/>
              </a:rPr>
              <a:t>18 + 1 (+1 for </a:t>
            </a:r>
            <a:r>
              <a:rPr lang="it-IT" err="1">
                <a:solidFill>
                  <a:srgbClr val="000000"/>
                </a:solidFill>
                <a:latin typeface="Neue Haas Grotesk Text Pro"/>
                <a:ea typeface="+mn-lt"/>
                <a:cs typeface="+mn-lt"/>
              </a:rPr>
              <a:t>unrecognized</a:t>
            </a:r>
            <a:r>
              <a:rPr lang="it-IT">
                <a:solidFill>
                  <a:srgbClr val="000000"/>
                </a:solidFill>
                <a:latin typeface="Neue Haas Grotesk Text Pro"/>
                <a:ea typeface="+mn-lt"/>
                <a:cs typeface="+mn-lt"/>
              </a:rPr>
              <a:t> </a:t>
            </a:r>
            <a:r>
              <a:rPr lang="it-IT" err="1">
                <a:solidFill>
                  <a:srgbClr val="000000"/>
                </a:solidFill>
                <a:latin typeface="Neue Haas Grotesk Text Pro"/>
                <a:ea typeface="+mn-lt"/>
                <a:cs typeface="+mn-lt"/>
              </a:rPr>
              <a:t>gestures</a:t>
            </a:r>
            <a:r>
              <a:rPr lang="it-IT">
                <a:solidFill>
                  <a:srgbClr val="000000"/>
                </a:solidFill>
                <a:latin typeface="Neue Haas Grotesk Text Pro"/>
                <a:ea typeface="+mn-lt"/>
                <a:cs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64682106"/>
      </p:ext>
    </p:extLst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07BE7C-3168-D406-A657-E42493384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Dataset Class Distribution</a:t>
            </a:r>
          </a:p>
        </p:txBody>
      </p:sp>
      <p:pic>
        <p:nvPicPr>
          <p:cNvPr id="4" name="Segnaposto contenuto 3" descr="Immagine che contiene testo, schermata, Diagramma, linea&#10;&#10;Il contenuto generato dall&amp;#39;IA potrebbe non essere corretto.">
            <a:extLst>
              <a:ext uri="{FF2B5EF4-FFF2-40B4-BE49-F238E27FC236}">
                <a16:creationId xmlns:a16="http://schemas.microsoft.com/office/drawing/2014/main" id="{8462E304-65B4-65C3-5A81-E58538D36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3420" y="1715532"/>
            <a:ext cx="9272032" cy="459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1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DA9942F-A18C-9E9D-BF08-9291C54E1C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262ACE8-F02F-43A4-B122-7FEDF143D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09" y="353681"/>
            <a:ext cx="6572382" cy="97431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100"/>
              <a:t>Precision-Recall Tradeoff</a:t>
            </a:r>
          </a:p>
        </p:txBody>
      </p:sp>
      <p:pic>
        <p:nvPicPr>
          <p:cNvPr id="4" name="Segnaposto contenuto 3" descr="Immagine che contiene testo, diagramma, line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703DA8BC-B6EE-C0BF-1FDA-2AB54CB19B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09809" y="1976133"/>
            <a:ext cx="6572382" cy="3236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524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7B4472A-332B-71E5-8009-33841E7C3F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54DAA01-0F5E-A064-451F-36BAE4DF5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074" y="1635260"/>
            <a:ext cx="3348297" cy="22417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Precision vs Recall </a:t>
            </a:r>
          </a:p>
        </p:txBody>
      </p:sp>
      <p:pic>
        <p:nvPicPr>
          <p:cNvPr id="4" name="Segnaposto contenuto 3" descr="Immagine che contiene testo, linea, diagramma, Diagramma&#10;&#10;Il contenuto generato dall&amp;#39;IA potrebbe non essere corretto.">
            <a:extLst>
              <a:ext uri="{FF2B5EF4-FFF2-40B4-BE49-F238E27FC236}">
                <a16:creationId xmlns:a16="http://schemas.microsoft.com/office/drawing/2014/main" id="{130EC905-048A-052E-E5BC-1503FB60A4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08536" y="394504"/>
            <a:ext cx="6061934" cy="6061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0035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0F62F94-61B0-E74C-A781-B79F2746C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err="1"/>
              <a:t>Confusion</a:t>
            </a:r>
            <a:r>
              <a:rPr lang="it-IT"/>
              <a:t> Matrix</a:t>
            </a:r>
          </a:p>
        </p:txBody>
      </p:sp>
      <p:pic>
        <p:nvPicPr>
          <p:cNvPr id="4" name="Segnaposto contenuto 3" descr="Immagine che contiene testo, schermata, numero, Carattere&#10;&#10;Il contenuto generato dall&amp;#39;IA potrebbe non essere corretto.">
            <a:extLst>
              <a:ext uri="{FF2B5EF4-FFF2-40B4-BE49-F238E27FC236}">
                <a16:creationId xmlns:a16="http://schemas.microsoft.com/office/drawing/2014/main" id="{1A1FEF72-7E66-5BB6-B747-87439A6A9D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71230" y="1715532"/>
            <a:ext cx="5336412" cy="459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018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7E63BE-5F01-2D72-5B0C-219DD8C71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Landmark </a:t>
            </a:r>
            <a:r>
              <a:rPr lang="it-IT" err="1"/>
              <a:t>Correlation</a:t>
            </a:r>
            <a:r>
              <a:rPr lang="it-IT"/>
              <a:t> </a:t>
            </a:r>
          </a:p>
        </p:txBody>
      </p:sp>
      <p:pic>
        <p:nvPicPr>
          <p:cNvPr id="4" name="Segnaposto contenuto 3" descr="Immagine che contiene modello, testo, schermata, Rettangolo&#10;&#10;Il contenuto generato dall&amp;#39;IA potrebbe non essere corretto.">
            <a:extLst>
              <a:ext uri="{FF2B5EF4-FFF2-40B4-BE49-F238E27FC236}">
                <a16:creationId xmlns:a16="http://schemas.microsoft.com/office/drawing/2014/main" id="{379765A1-9177-FAE7-5EE5-DE39B1600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6149" y="1715532"/>
            <a:ext cx="5146574" cy="4593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603841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0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1" baseType="lpstr">
      <vt:lpstr>VanillaVTI</vt:lpstr>
      <vt:lpstr>Gesture Recognizer</vt:lpstr>
      <vt:lpstr>Application architetture</vt:lpstr>
      <vt:lpstr>Client – Server Communication</vt:lpstr>
      <vt:lpstr>Graphical Interface</vt:lpstr>
      <vt:lpstr>Custom DNN Model</vt:lpstr>
      <vt:lpstr>Dataset Class Distribution</vt:lpstr>
      <vt:lpstr>Precision-Recall Tradeoff</vt:lpstr>
      <vt:lpstr>Precision vs Recall </vt:lpstr>
      <vt:lpstr>Confusion Matrix</vt:lpstr>
      <vt:lpstr>Landmark Correlation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2025-07-07T10:44:35Z</dcterms:created>
  <dcterms:modified xsi:type="dcterms:W3CDTF">2025-07-14T11:53:29Z</dcterms:modified>
</cp:coreProperties>
</file>