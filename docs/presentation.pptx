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3" r:id="rId1"/>
  </p:sldMasterIdLst>
  <p:sldIdLst>
    <p:sldId id="256" r:id="rId2"/>
    <p:sldId id="257" r:id="rId3"/>
    <p:sldId id="258" r:id="rId4"/>
    <p:sldId id="259" r:id="rId5"/>
    <p:sldId id="260" r:id="rId6"/>
    <p:sldId id="264" r:id="rId7"/>
    <p:sldId id="261" r:id="rId8"/>
    <p:sldId id="262" r:id="rId9"/>
    <p:sldId id="263" r:id="rId1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7DBC81B-9B1E-5EDB-D27A-FDBAD55CC279}" v="123" dt="2025-07-14T09:45:30.990"/>
    <p1510:client id="{E470466F-2EBA-3063-23AE-8A7DD1CA4EB4}" v="44" dt="2025-07-14T10:07:20.964"/>
    <p1510:client id="{ECC5346D-50C3-7CC9-1115-DB1B76147B8C}" v="513" dt="2025-07-14T10:08:11.28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76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7/16/2025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7979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7/16/2025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612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7/16/2025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38772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7/16/2025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0377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7/16/2025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1287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7/16/2025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4658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7/16/2025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51393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7/16/2025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1017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7/16/2025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7835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7/16/2025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17106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7/16/2025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5253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7/16/2025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96320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76" r:id="rId6"/>
    <p:sldLayoutId id="2147483672" r:id="rId7"/>
    <p:sldLayoutId id="2147483673" r:id="rId8"/>
    <p:sldLayoutId id="2147483674" r:id="rId9"/>
    <p:sldLayoutId id="2147483675" r:id="rId10"/>
    <p:sldLayoutId id="2147483677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8">
            <a:extLst>
              <a:ext uri="{FF2B5EF4-FFF2-40B4-BE49-F238E27FC236}">
                <a16:creationId xmlns:a16="http://schemas.microsoft.com/office/drawing/2014/main" id="{6E448DB1-4196-18A6-15DA-C72635C1B1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18" name="Picture 3">
            <a:extLst>
              <a:ext uri="{FF2B5EF4-FFF2-40B4-BE49-F238E27FC236}">
                <a16:creationId xmlns:a16="http://schemas.microsoft.com/office/drawing/2014/main" id="{D85DF999-C76B-7365-70F9-44CEB8069E8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92" t="22614" r="-7" b="920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9" name="Rectangle 10">
            <a:extLst>
              <a:ext uri="{FF2B5EF4-FFF2-40B4-BE49-F238E27FC236}">
                <a16:creationId xmlns:a16="http://schemas.microsoft.com/office/drawing/2014/main" id="{DF15DF8A-891A-1965-E372-1BA1F3B945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507179" y="173179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33000"/>
                </a:schemeClr>
              </a:gs>
              <a:gs pos="26000">
                <a:schemeClr val="bg1">
                  <a:alpha val="20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7473219" y="898373"/>
            <a:ext cx="4470544" cy="3474720"/>
          </a:xfrm>
        </p:spPr>
        <p:txBody>
          <a:bodyPr anchor="b">
            <a:normAutofit/>
          </a:bodyPr>
          <a:lstStyle/>
          <a:p>
            <a:pPr algn="l"/>
            <a:r>
              <a:rPr lang="de-DE" sz="5800"/>
              <a:t>Gesture Recognizer</a:t>
            </a: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7482646" y="4495013"/>
            <a:ext cx="4116410" cy="1386840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/>
            <a:r>
              <a:rPr lang="de-DE" sz="2200"/>
              <a:t>Antonio Querci and Alessando Trusendi</a:t>
            </a:r>
          </a:p>
        </p:txBody>
      </p:sp>
    </p:spTree>
    <p:extLst>
      <p:ext uri="{BB962C8B-B14F-4D97-AF65-F5344CB8AC3E}">
        <p14:creationId xmlns:p14="http://schemas.microsoft.com/office/powerpoint/2010/main" val="39625839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>
    <p:pull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3A364A9-E0DD-31E7-9120-B9DB6B121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Application architetture</a:t>
            </a:r>
          </a:p>
        </p:txBody>
      </p:sp>
      <p:pic>
        <p:nvPicPr>
          <p:cNvPr id="7" name="Segnaposto contenuto 6">
            <a:extLst>
              <a:ext uri="{FF2B5EF4-FFF2-40B4-BE49-F238E27FC236}">
                <a16:creationId xmlns:a16="http://schemas.microsoft.com/office/drawing/2014/main" id="{C24BC18B-49E7-89A5-F8AA-E075744130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04980" y="1483117"/>
            <a:ext cx="6391275" cy="4543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99613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12AE228-E947-A40C-1D26-E67294D390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Client – Server Communication</a:t>
            </a:r>
          </a:p>
        </p:txBody>
      </p:sp>
      <p:pic>
        <p:nvPicPr>
          <p:cNvPr id="4" name="Segnaposto contenuto 3">
            <a:extLst>
              <a:ext uri="{FF2B5EF4-FFF2-40B4-BE49-F238E27FC236}">
                <a16:creationId xmlns:a16="http://schemas.microsoft.com/office/drawing/2014/main" id="{671E485D-E943-EDDC-741A-6DAF733AE2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775" y="2264317"/>
            <a:ext cx="10653713" cy="3496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1639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161D4C0-DBD9-3412-4F93-9EDB4428F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err="1"/>
              <a:t>Graphical</a:t>
            </a:r>
            <a:r>
              <a:rPr lang="it-IT"/>
              <a:t> Interface</a:t>
            </a:r>
          </a:p>
        </p:txBody>
      </p:sp>
      <p:pic>
        <p:nvPicPr>
          <p:cNvPr id="4" name="Segnaposto contenuto 3" descr="Immagine che contiene testo, schermata, Carattere, numero&#10;&#10;Il contenuto generato dall&amp;#39;IA potrebbe non essere corretto.">
            <a:extLst>
              <a:ext uri="{FF2B5EF4-FFF2-40B4-BE49-F238E27FC236}">
                <a16:creationId xmlns:a16="http://schemas.microsoft.com/office/drawing/2014/main" id="{71FF31D9-A427-04C8-FA2E-CD1ED4A408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89409" y="1193872"/>
            <a:ext cx="8510788" cy="5089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3347306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0EDF996-DC0C-40CB-2569-CF608B0449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Custom DNN Model</a:t>
            </a:r>
          </a:p>
        </p:txBody>
      </p:sp>
      <p:pic>
        <p:nvPicPr>
          <p:cNvPr id="4" name="Segnaposto contenuto 3">
            <a:extLst>
              <a:ext uri="{FF2B5EF4-FFF2-40B4-BE49-F238E27FC236}">
                <a16:creationId xmlns:a16="http://schemas.microsoft.com/office/drawing/2014/main" id="{1DDAF860-5CE2-6B27-D028-3336276DA2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01405" y="1196738"/>
            <a:ext cx="4880881" cy="4880881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CF48DC19-50CC-7DC6-0594-27FFDA992533}"/>
              </a:ext>
            </a:extLst>
          </p:cNvPr>
          <p:cNvSpPr txBox="1"/>
          <p:nvPr/>
        </p:nvSpPr>
        <p:spPr>
          <a:xfrm>
            <a:off x="306780" y="2058389"/>
            <a:ext cx="6531426" cy="203132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/>
              <a:t>Input size: 21 x 3 x 2</a:t>
            </a:r>
          </a:p>
          <a:p>
            <a:r>
              <a:rPr lang="it-IT"/>
              <a:t>Two hands </a:t>
            </a:r>
            <a:r>
              <a:rPr lang="it-IT">
                <a:ea typeface="+mn-lt"/>
                <a:cs typeface="+mn-lt"/>
              </a:rPr>
              <a:t>→ 21 Landmarks x 3 </a:t>
            </a:r>
            <a:r>
              <a:rPr lang="it-IT" err="1">
                <a:ea typeface="+mn-lt"/>
                <a:cs typeface="+mn-lt"/>
              </a:rPr>
              <a:t>coords</a:t>
            </a:r>
            <a:r>
              <a:rPr lang="it-IT">
                <a:ea typeface="+mn-lt"/>
                <a:cs typeface="+mn-lt"/>
              </a:rPr>
              <a:t> x 2 = 126 inputs</a:t>
            </a:r>
          </a:p>
          <a:p>
            <a:endParaRPr lang="it-IT">
              <a:ea typeface="+mn-lt"/>
              <a:cs typeface="+mn-lt"/>
            </a:endParaRPr>
          </a:p>
          <a:p>
            <a:r>
              <a:rPr lang="it-IT" err="1">
                <a:ea typeface="+mn-lt"/>
                <a:cs typeface="+mn-lt"/>
              </a:rPr>
              <a:t>Hidden</a:t>
            </a:r>
            <a:r>
              <a:rPr lang="it-IT">
                <a:ea typeface="+mn-lt"/>
                <a:cs typeface="+mn-lt"/>
              </a:rPr>
              <a:t> </a:t>
            </a:r>
            <a:r>
              <a:rPr lang="it-IT" err="1">
                <a:ea typeface="+mn-lt"/>
                <a:cs typeface="+mn-lt"/>
              </a:rPr>
              <a:t>layer</a:t>
            </a:r>
            <a:r>
              <a:rPr lang="it-IT">
                <a:ea typeface="+mn-lt"/>
                <a:cs typeface="+mn-lt"/>
              </a:rPr>
              <a:t> size: 128</a:t>
            </a:r>
          </a:p>
          <a:p>
            <a:endParaRPr lang="it-IT">
              <a:ea typeface="+mn-lt"/>
              <a:cs typeface="+mn-lt"/>
            </a:endParaRPr>
          </a:p>
          <a:p>
            <a:r>
              <a:rPr lang="it-IT" err="1">
                <a:ea typeface="+mn-lt"/>
                <a:cs typeface="+mn-lt"/>
              </a:rPr>
              <a:t>Number</a:t>
            </a:r>
            <a:r>
              <a:rPr lang="it-IT">
                <a:ea typeface="+mn-lt"/>
                <a:cs typeface="+mn-lt"/>
              </a:rPr>
              <a:t> of classes = 19</a:t>
            </a:r>
          </a:p>
          <a:p>
            <a:r>
              <a:rPr lang="it-IT">
                <a:solidFill>
                  <a:srgbClr val="000000"/>
                </a:solidFill>
                <a:latin typeface="Neue Haas Grotesk Text Pro"/>
                <a:ea typeface="+mn-lt"/>
                <a:cs typeface="+mn-lt"/>
              </a:rPr>
              <a:t>18 + 1 (+1 for </a:t>
            </a:r>
            <a:r>
              <a:rPr lang="it-IT" err="1">
                <a:solidFill>
                  <a:srgbClr val="000000"/>
                </a:solidFill>
                <a:latin typeface="Neue Haas Grotesk Text Pro"/>
                <a:ea typeface="+mn-lt"/>
                <a:cs typeface="+mn-lt"/>
              </a:rPr>
              <a:t>unrecognized</a:t>
            </a:r>
            <a:r>
              <a:rPr lang="it-IT">
                <a:solidFill>
                  <a:srgbClr val="000000"/>
                </a:solidFill>
                <a:latin typeface="Neue Haas Grotesk Text Pro"/>
                <a:ea typeface="+mn-lt"/>
                <a:cs typeface="+mn-lt"/>
              </a:rPr>
              <a:t> </a:t>
            </a:r>
            <a:r>
              <a:rPr lang="it-IT" err="1">
                <a:solidFill>
                  <a:srgbClr val="000000"/>
                </a:solidFill>
                <a:latin typeface="Neue Haas Grotesk Text Pro"/>
                <a:ea typeface="+mn-lt"/>
                <a:cs typeface="+mn-lt"/>
              </a:rPr>
              <a:t>gestures</a:t>
            </a:r>
            <a:r>
              <a:rPr lang="it-IT">
                <a:solidFill>
                  <a:srgbClr val="000000"/>
                </a:solidFill>
                <a:latin typeface="Neue Haas Grotesk Text Pro"/>
                <a:ea typeface="+mn-lt"/>
                <a:cs typeface="+mn-lt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164682106"/>
      </p:ext>
    </p:extLst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F07BE7C-3168-D406-A657-E424933849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Dataset Class Distribution</a:t>
            </a:r>
          </a:p>
        </p:txBody>
      </p:sp>
      <p:pic>
        <p:nvPicPr>
          <p:cNvPr id="4" name="Segnaposto contenuto 3" descr="Immagine che contiene testo, schermata, Diagramma, linea&#10;&#10;Il contenuto generato dall&amp;#39;IA potrebbe non essere corretto.">
            <a:extLst>
              <a:ext uri="{FF2B5EF4-FFF2-40B4-BE49-F238E27FC236}">
                <a16:creationId xmlns:a16="http://schemas.microsoft.com/office/drawing/2014/main" id="{8462E304-65B4-65C3-5A81-E58538D36B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03420" y="1715532"/>
            <a:ext cx="9272032" cy="4593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7191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6DA9942F-A18C-9E9D-BF08-9291C54E1C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B262ACE8-F02F-43A4-B122-7FEDF143D6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09809" y="353681"/>
            <a:ext cx="6572382" cy="97431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100"/>
              <a:t>Precision-Recall Tradeoff</a:t>
            </a:r>
          </a:p>
        </p:txBody>
      </p:sp>
      <p:pic>
        <p:nvPicPr>
          <p:cNvPr id="4" name="Segnaposto contenuto 3" descr="Immagine che contiene testo, diagramma, linea, Diagramma&#10;&#10;Il contenuto generato dall&amp;#39;IA potrebbe non essere corretto.">
            <a:extLst>
              <a:ext uri="{FF2B5EF4-FFF2-40B4-BE49-F238E27FC236}">
                <a16:creationId xmlns:a16="http://schemas.microsoft.com/office/drawing/2014/main" id="{703DA8BC-B6EE-C0BF-1FDA-2AB54CB19B9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09809" y="1976133"/>
            <a:ext cx="6572382" cy="3236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15243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7B4472A-332B-71E5-8009-33841E7C3F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54DAA01-0F5E-A064-451F-36BAE4DF5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0074" y="1635260"/>
            <a:ext cx="3348297" cy="224175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/>
              <a:t>Precision vs Recall </a:t>
            </a:r>
          </a:p>
        </p:txBody>
      </p:sp>
      <p:pic>
        <p:nvPicPr>
          <p:cNvPr id="4" name="Segnaposto contenuto 3" descr="Immagine che contiene testo, linea, diagramma, Diagramma&#10;&#10;Il contenuto generato dall&amp;#39;IA potrebbe non essere corretto.">
            <a:extLst>
              <a:ext uri="{FF2B5EF4-FFF2-40B4-BE49-F238E27FC236}">
                <a16:creationId xmlns:a16="http://schemas.microsoft.com/office/drawing/2014/main" id="{130EC905-048A-052E-E5BC-1503FB60A4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008536" y="394504"/>
            <a:ext cx="6061934" cy="6061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50035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0F62F94-61B0-E74C-A781-B79F2746CC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err="1"/>
              <a:t>Confusion</a:t>
            </a:r>
            <a:r>
              <a:rPr lang="it-IT"/>
              <a:t> Matrix</a:t>
            </a:r>
          </a:p>
        </p:txBody>
      </p:sp>
      <p:pic>
        <p:nvPicPr>
          <p:cNvPr id="4" name="Segnaposto contenuto 3" descr="Immagine che contiene testo, schermata, numero, Carattere&#10;&#10;Il contenuto generato dall&amp;#39;IA potrebbe non essere corretto.">
            <a:extLst>
              <a:ext uri="{FF2B5EF4-FFF2-40B4-BE49-F238E27FC236}">
                <a16:creationId xmlns:a16="http://schemas.microsoft.com/office/drawing/2014/main" id="{1A1FEF72-7E66-5BB6-B747-87439A6A9DC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71230" y="1715532"/>
            <a:ext cx="5336412" cy="4593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018625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68</Words>
  <Application>Microsoft Office PowerPoint</Application>
  <PresentationFormat>Widescreen</PresentationFormat>
  <Paragraphs>17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Neue Haas Grotesk Text Pro</vt:lpstr>
      <vt:lpstr>VanillaVTI</vt:lpstr>
      <vt:lpstr>Gesture Recognizer</vt:lpstr>
      <vt:lpstr>Application architetture</vt:lpstr>
      <vt:lpstr>Client – Server Communication</vt:lpstr>
      <vt:lpstr>Graphical Interface</vt:lpstr>
      <vt:lpstr>Custom DNN Model</vt:lpstr>
      <vt:lpstr>Dataset Class Distribution</vt:lpstr>
      <vt:lpstr>Precision-Recall Tradeoff</vt:lpstr>
      <vt:lpstr>Precision vs Recall </vt:lpstr>
      <vt:lpstr>Confusion Matrix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ANTONIO QUERCI</cp:lastModifiedBy>
  <cp:revision>3</cp:revision>
  <dcterms:created xsi:type="dcterms:W3CDTF">2025-07-07T10:44:35Z</dcterms:created>
  <dcterms:modified xsi:type="dcterms:W3CDTF">2025-07-15T22:45:39Z</dcterms:modified>
</cp:coreProperties>
</file>